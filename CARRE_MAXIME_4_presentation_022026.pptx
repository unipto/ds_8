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0"/>
  </p:notesMasterIdLst>
  <p:handoutMasterIdLst>
    <p:handoutMasterId r:id="rId21"/>
  </p:handoutMasterIdLst>
  <p:sldIdLst>
    <p:sldId id="256" r:id="rId5"/>
    <p:sldId id="317" r:id="rId6"/>
    <p:sldId id="258" r:id="rId7"/>
    <p:sldId id="376" r:id="rId8"/>
    <p:sldId id="427" r:id="rId9"/>
    <p:sldId id="342" r:id="rId10"/>
    <p:sldId id="416" r:id="rId11"/>
    <p:sldId id="298" r:id="rId12"/>
    <p:sldId id="422" r:id="rId13"/>
    <p:sldId id="426" r:id="rId14"/>
    <p:sldId id="308" r:id="rId15"/>
    <p:sldId id="331" r:id="rId16"/>
    <p:sldId id="276" r:id="rId17"/>
    <p:sldId id="424" r:id="rId18"/>
    <p:sldId id="425" r:id="rId19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1263"/>
    <a:srgbClr val="A5C77F"/>
    <a:srgbClr val="CD1710"/>
    <a:srgbClr val="0272A2"/>
    <a:srgbClr val="D6C600"/>
    <a:srgbClr val="A5A5A5"/>
    <a:srgbClr val="7F7F7F"/>
    <a:srgbClr val="616161"/>
    <a:srgbClr val="FFF5DF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3727" autoAdjust="0"/>
  </p:normalViewPr>
  <p:slideViewPr>
    <p:cSldViewPr snapToGrid="0">
      <p:cViewPr varScale="1">
        <p:scale>
          <a:sx n="133" d="100"/>
          <a:sy n="133" d="100"/>
        </p:scale>
        <p:origin x="1230" y="120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80" y="7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6F3730-8562-4D7F-A2D1-B258C4FC42CB}" type="datetime1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B237-C4D2-43EE-AC18-AA163EB3D7BC}" type="datetime1">
              <a:rPr lang="fr-FR" smtClean="0"/>
              <a:pPr/>
              <a:t>06/02/2026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31213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468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noProof="0" dirty="0">
                <a:solidFill>
                  <a:schemeClr val="tx1"/>
                </a:solidFill>
              </a:rPr>
              <a:t>Données de train : TARGET présente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noProof="0" dirty="0">
                <a:solidFill>
                  <a:schemeClr val="tx1"/>
                </a:solidFill>
              </a:rPr>
              <a:t>Données de test : pas de TARGET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5817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F413-DAEA-9043-7E12-1D2DEF4E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74E358-4579-EB28-C1A6-23534E68E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B39685-B425-961E-4175-86A39E47F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noProof="0" dirty="0">
                <a:solidFill>
                  <a:schemeClr val="tx1"/>
                </a:solidFill>
              </a:rPr>
              <a:t>Données de train : TARGET présente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noProof="0" dirty="0">
                <a:solidFill>
                  <a:schemeClr val="tx1"/>
                </a:solidFill>
              </a:rPr>
              <a:t>Données de test : pas de TARGET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D6A6AA-163D-83D2-B015-08202DB91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23148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0969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15F5-C7CA-6F6F-05A3-0B9D7193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0D2064-CBFA-6484-5AED-BDA07A04B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4A4FCE-B0A0-AC30-7846-80E5B4BCB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Base documentaire composée de rapports du GIEC,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Classifieur pour déterminer si une claim est probablement de la désinformation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Extraction de mots clés des claims, normalisation des claims, génération de </a:t>
            </a:r>
            <a:r>
              <a:rPr lang="fr-FR" dirty="0" err="1"/>
              <a:t>queries</a:t>
            </a:r>
            <a:r>
              <a:rPr lang="fr-FR" dirty="0"/>
              <a:t>, pour trouver des extraits similaires dans la base de connaissance, différents types d’</a:t>
            </a:r>
            <a:r>
              <a:rPr lang="fr-FR" dirty="0" err="1"/>
              <a:t>indexing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2347C3-B8F7-E91D-64C9-D5E4E9371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38567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16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5EDA-D2E7-5C6E-52DD-F6D8FBCD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6FAB1B-524D-3930-B9B1-F0DA47B1C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7BEF9DA-FEBD-F08F-9CD3-29B832714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E73A9F-CA89-8132-BD21-4E18F27E0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2505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CAC2-18B0-CFCB-A754-B886B17F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0353D7B-DF6F-9875-CCE2-ACBABE045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F6A796-3300-E67D-3F0A-BDB7ED81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B92D2E-9501-8733-17D3-4A0FCAB80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93506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656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41059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151F-6C09-03E4-1102-D49A3172C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494E86-7209-0340-3695-DDFCAEF01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2FA0D13-84B2-A6DA-7958-8AA104971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393B8A-7200-08D2-4A9F-9A01FB16D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143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7D95-0FCE-FAB4-8F3C-76415F37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1F174D-7C02-0917-EEBE-994A00173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175EAA-E37E-1D4C-2E11-47AB367C7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53DE0D-9BBA-AFEC-87EC-39257B586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25774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8" name="Graphisme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E9BD5E-BD24-B8FC-2C21-B5EAC8C7FE9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74029" y="6492875"/>
            <a:ext cx="3243942" cy="365125"/>
          </a:xfrm>
          <a:solidFill>
            <a:srgbClr val="F7F6F3"/>
          </a:solidFill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4579" y="6492874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sme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D543AE20-8F36-4D8A-8B8D-0FCD78AF858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74029" y="6492875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11" name="Espace réservé du numéro de diapositive 4">
            <a:extLst>
              <a:ext uri="{FF2B5EF4-FFF2-40B4-BE49-F238E27FC236}">
                <a16:creationId xmlns:a16="http://schemas.microsoft.com/office/drawing/2014/main" id="{D193FF5E-2D0F-AB65-4FE4-8BC3DDC6A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38857" y="6492875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2" name="Espace réservé du texte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4" name="Espace réservé du texte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solidFill>
            <a:srgbClr val="F7F6F3"/>
          </a:solidFill>
        </p:spPr>
        <p:txBody>
          <a:bodyPr rtlCol="0"/>
          <a:lstStyle/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sme 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sme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44FB4AE9-943D-4925-220C-B6F7B5E7C02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74029" y="6492875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36B52154-C549-FFAA-557A-70076914A54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38857" y="6492875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790FA8-ED06-E94E-FAA5-EB066F5756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74029" y="6492875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0BBB65-E1EB-E018-7E5A-C4CACF55D09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38857" y="6492875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pic>
        <p:nvPicPr>
          <p:cNvPr id="5" name="Graphisme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52A203-9861-C4EF-4FD6-2D15ADFE6EB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16563" y="6553200"/>
            <a:ext cx="1128712" cy="304800"/>
          </a:xfrm>
          <a:solidFill>
            <a:srgbClr val="F7F6F3"/>
          </a:solidFill>
        </p:spPr>
        <p:txBody>
          <a:bodyPr/>
          <a:lstStyle>
            <a:lvl1pPr marL="0" indent="0">
              <a:buNone/>
              <a:defRPr/>
            </a:lvl1pPr>
            <a:lvl5pPr marL="1828800" indent="0">
              <a:buNone/>
              <a:defRPr/>
            </a:lvl5pPr>
          </a:lstStyle>
          <a:p>
            <a:pPr lvl="4"/>
            <a:r>
              <a:rPr lang="fr-F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74029" y="6492875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38857" y="6492875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marché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sme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sme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7F6F3"/>
          </a:solidFill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sme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9133C239-8560-358A-B0C3-737829B1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56019714-0242-CA02-FCA2-115D4F18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31DFC94E-91D7-424F-9021-2864F0DD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D72CC-E5A4-3EAF-4774-AF7CB74D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 graphique SmartArt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4 person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8 personn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5" name="Espace réservé d’imag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6" name="Espace réservé d’imag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7" name="Espace réservé d’imag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58" name="Espace réservé d’imag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7F6F3"/>
          </a:solidFill>
        </p:spPr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Anticiper des besoins en consommation de bâtiments</a:t>
            </a:r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Graphisme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sme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  <p:sp>
        <p:nvSpPr>
          <p:cNvPr id="10" name="Espace réservé du numéro de diapositive 8">
            <a:extLst>
              <a:ext uri="{FF2B5EF4-FFF2-40B4-BE49-F238E27FC236}">
                <a16:creationId xmlns:a16="http://schemas.microsoft.com/office/drawing/2014/main" id="{C16C39F1-475B-E2A5-A58E-0B52E81E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7319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7319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4" name="Espace réservé du pied de page 7">
            <a:extLst>
              <a:ext uri="{FF2B5EF4-FFF2-40B4-BE49-F238E27FC236}">
                <a16:creationId xmlns:a16="http://schemas.microsoft.com/office/drawing/2014/main" id="{746653E9-110E-85A9-AE91-6A07E075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6" name="Graphisme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5221" y="6492874"/>
            <a:ext cx="2661557" cy="365125"/>
          </a:xfrm>
          <a:solidFill>
            <a:srgbClr val="F7F6F3"/>
          </a:solidFill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Anticiper des besoins en consommation de bâtiments</a:t>
            </a:r>
            <a:endParaRPr lang="fr-FR" noProof="0" dirty="0"/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629" y="6492875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DD324FE-AD0A-AEA8-45E6-564CDDAEA3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Anticiper des besoins en consommation de bâtiments</a:t>
            </a: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204" y="1381695"/>
            <a:ext cx="4404360" cy="622846"/>
          </a:xfrm>
        </p:spPr>
        <p:txBody>
          <a:bodyPr lIns="90000" rtlCol="0"/>
          <a:lstStyle/>
          <a:p>
            <a:pPr rtl="0"/>
            <a:br>
              <a:rPr lang="fr-FR" sz="4400" dirty="0"/>
            </a:br>
            <a:r>
              <a:rPr lang="fr-FR" sz="4400" dirty="0"/>
              <a:t>Data </a:t>
            </a:r>
            <a:r>
              <a:rPr lang="fr-FR" sz="4400" dirty="0" err="1"/>
              <a:t>Scientist</a:t>
            </a:r>
            <a:endParaRPr lang="fr-FR" sz="44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081" y="2115471"/>
            <a:ext cx="6137564" cy="445776"/>
          </a:xfrm>
          <a:solidFill>
            <a:schemeClr val="accent2"/>
          </a:solidFill>
        </p:spPr>
        <p:txBody>
          <a:bodyPr rtlCol="0">
            <a:normAutofit/>
          </a:bodyPr>
          <a:lstStyle/>
          <a:p>
            <a:pPr algn="r" rtl="0"/>
            <a:r>
              <a:rPr lang="fr-FR" sz="1800" dirty="0"/>
              <a:t>Réalisez un </a:t>
            </a:r>
            <a:r>
              <a:rPr lang="fr-FR" sz="1800" dirty="0" err="1"/>
              <a:t>dashboard</a:t>
            </a:r>
            <a:r>
              <a:rPr lang="fr-FR" sz="1800" dirty="0"/>
              <a:t> et assurez une veille technique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21A401A-CAB5-A7E2-1BA7-94F985687F4F}"/>
              </a:ext>
            </a:extLst>
          </p:cNvPr>
          <p:cNvSpPr txBox="1"/>
          <p:nvPr/>
        </p:nvSpPr>
        <p:spPr>
          <a:xfrm>
            <a:off x="9965094" y="1006990"/>
            <a:ext cx="22269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000" cap="all" spc="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ProjeCt</a:t>
            </a:r>
            <a:r>
              <a:rPr lang="fr-FR" sz="2000" cap="all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 7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CA4BA55-7E5D-8BD7-7D3D-4AA4C902A08C}"/>
              </a:ext>
            </a:extLst>
          </p:cNvPr>
          <p:cNvCxnSpPr>
            <a:cxnSpLocks/>
          </p:cNvCxnSpPr>
          <p:nvPr/>
        </p:nvCxnSpPr>
        <p:spPr>
          <a:xfrm>
            <a:off x="7429500" y="2007113"/>
            <a:ext cx="4762500" cy="0"/>
          </a:xfrm>
          <a:prstGeom prst="line">
            <a:avLst/>
          </a:prstGeom>
          <a:ln w="952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pied de page 4">
            <a:extLst>
              <a:ext uri="{FF2B5EF4-FFF2-40B4-BE49-F238E27FC236}">
                <a16:creationId xmlns:a16="http://schemas.microsoft.com/office/drawing/2014/main" id="{C3EAFDF8-6614-5C79-C0D4-D355FD88CFEF}"/>
              </a:ext>
            </a:extLst>
          </p:cNvPr>
          <p:cNvSpPr txBox="1">
            <a:spLocks/>
          </p:cNvSpPr>
          <p:nvPr/>
        </p:nvSpPr>
        <p:spPr>
          <a:xfrm>
            <a:off x="4788660" y="6492875"/>
            <a:ext cx="2482842" cy="365125"/>
          </a:xfrm>
          <a:prstGeom prst="rect">
            <a:avLst/>
          </a:prstGeom>
          <a:solidFill>
            <a:srgbClr val="F7F6F3"/>
          </a:solidFill>
        </p:spPr>
        <p:txBody>
          <a:bodyPr rtlCol="0"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57350D-8181-8AA5-0027-2FF8902871D0}"/>
              </a:ext>
            </a:extLst>
          </p:cNvPr>
          <p:cNvSpPr/>
          <p:nvPr/>
        </p:nvSpPr>
        <p:spPr>
          <a:xfrm>
            <a:off x="0" y="0"/>
            <a:ext cx="5815263" cy="6857998"/>
          </a:xfrm>
          <a:prstGeom prst="rect">
            <a:avLst/>
          </a:prstGeom>
          <a:solidFill>
            <a:srgbClr val="FFF5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FF168C-27BB-2B87-B26A-E9F1E687B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968" y="449179"/>
            <a:ext cx="4924886" cy="53580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AA64DA2-CE96-C61B-095B-B9811BD3902C}"/>
              </a:ext>
            </a:extLst>
          </p:cNvPr>
          <p:cNvSpPr/>
          <p:nvPr/>
        </p:nvSpPr>
        <p:spPr>
          <a:xfrm>
            <a:off x="4328087" y="285808"/>
            <a:ext cx="965767" cy="778016"/>
          </a:xfrm>
          <a:prstGeom prst="rect">
            <a:avLst/>
          </a:prstGeom>
          <a:solidFill>
            <a:srgbClr val="FFF5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A7FD0C-40C9-F75F-B180-1F2ADF10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05324" y="6492874"/>
            <a:ext cx="3181352" cy="365125"/>
          </a:xfrm>
        </p:spPr>
        <p:txBody>
          <a:bodyPr/>
          <a:lstStyle/>
          <a:p>
            <a:pPr algn="r"/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21C2D8-D677-2E12-AB2A-DB9378C9D2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448" y="6492875"/>
            <a:ext cx="987552" cy="365125"/>
          </a:xfrm>
        </p:spPr>
        <p:txBody>
          <a:bodyPr/>
          <a:lstStyle/>
          <a:p>
            <a:pPr rtl="0"/>
            <a:fld id="{B5CEABB6-07DC-46E8-9B57-56EC44A396E5}" type="slidenum">
              <a:rPr lang="fr-FR" noProof="0" smtClean="0"/>
              <a:t>2</a:t>
            </a:fld>
            <a:endParaRPr lang="fr-FR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57005B8-FAFB-97A5-DC08-FB80CC965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843161"/>
            <a:ext cx="3171825" cy="1325563"/>
          </a:xfrm>
        </p:spPr>
        <p:txBody>
          <a:bodyPr rtlCol="0"/>
          <a:lstStyle/>
          <a:p>
            <a:pPr rtl="0"/>
            <a:r>
              <a:rPr lang="fr-FR" dirty="0"/>
              <a:t>Sommaire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BFB25A8A-1EC6-0BC4-E64B-2EBCB184E0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375" y="2381619"/>
            <a:ext cx="5097625" cy="2913381"/>
          </a:xfrm>
        </p:spPr>
        <p:txBody>
          <a:bodyPr rtlCol="0">
            <a:normAutofit/>
          </a:bodyPr>
          <a:lstStyle/>
          <a:p>
            <a:pPr rtl="0">
              <a:spcBef>
                <a:spcPts val="600"/>
              </a:spcBef>
            </a:pPr>
            <a:r>
              <a:rPr lang="fr-FR" sz="1600" dirty="0"/>
              <a:t>I. Présentation du </a:t>
            </a:r>
            <a:r>
              <a:rPr lang="fr-FR" sz="1600" dirty="0" err="1"/>
              <a:t>dashboard</a:t>
            </a:r>
            <a:endParaRPr lang="fr-FR" sz="1600" dirty="0"/>
          </a:p>
          <a:p>
            <a:pPr rtl="0"/>
            <a:r>
              <a:rPr lang="fr-FR" sz="1600" dirty="0"/>
              <a:t>II. Modélisation</a:t>
            </a:r>
          </a:p>
          <a:p>
            <a:pPr rtl="0"/>
            <a:r>
              <a:rPr lang="fr-FR" sz="1600" dirty="0"/>
              <a:t>III. Résultats</a:t>
            </a:r>
          </a:p>
          <a:p>
            <a:pPr rtl="0"/>
            <a:r>
              <a:rPr lang="fr-FR" sz="1600" dirty="0"/>
              <a:t>IV. Conclusion</a:t>
            </a:r>
          </a:p>
        </p:txBody>
      </p:sp>
    </p:spTree>
    <p:extLst>
      <p:ext uri="{BB962C8B-B14F-4D97-AF65-F5344CB8AC3E}">
        <p14:creationId xmlns:p14="http://schemas.microsoft.com/office/powerpoint/2010/main" val="1778321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6C9C9F5D-5DC7-8848-C7B6-819308F64349}"/>
              </a:ext>
            </a:extLst>
          </p:cNvPr>
          <p:cNvSpPr txBox="1"/>
          <p:nvPr/>
        </p:nvSpPr>
        <p:spPr>
          <a:xfrm>
            <a:off x="6301740" y="-867192"/>
            <a:ext cx="5692140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9600" cap="all" spc="150" dirty="0">
                <a:solidFill>
                  <a:srgbClr val="C6BFAA">
                    <a:alpha val="25000"/>
                  </a:srgbClr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+mj-cs"/>
              </a:rPr>
              <a:t>I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3FCC5DD-D6D1-A94A-4AC7-793652EA486F}"/>
              </a:ext>
            </a:extLst>
          </p:cNvPr>
          <p:cNvSpPr txBox="1">
            <a:spLocks/>
          </p:cNvSpPr>
          <p:nvPr/>
        </p:nvSpPr>
        <p:spPr>
          <a:xfrm>
            <a:off x="6301740" y="2571234"/>
            <a:ext cx="5692140" cy="171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Présentation du </a:t>
            </a:r>
            <a:r>
              <a:rPr lang="fr-FR" dirty="0" err="1"/>
              <a:t>dashboard</a:t>
            </a:r>
            <a:endParaRPr lang="fr-FR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BABE3A5A-0D32-AA25-9A71-454FDBD6800A}"/>
              </a:ext>
            </a:extLst>
          </p:cNvPr>
          <p:cNvSpPr txBox="1">
            <a:spLocks/>
          </p:cNvSpPr>
          <p:nvPr/>
        </p:nvSpPr>
        <p:spPr>
          <a:xfrm>
            <a:off x="5417310" y="6492875"/>
            <a:ext cx="2482842" cy="365125"/>
          </a:xfrm>
          <a:prstGeom prst="rect">
            <a:avLst/>
          </a:prstGeom>
          <a:solidFill>
            <a:srgbClr val="F7F6F3"/>
          </a:solidFill>
        </p:spPr>
        <p:txBody>
          <a:bodyPr rtlCol="0"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90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0CDA41-FF5B-7778-F5F8-A529E31BFF13}"/>
              </a:ext>
            </a:extLst>
          </p:cNvPr>
          <p:cNvSpPr txBox="1">
            <a:spLocks/>
          </p:cNvSpPr>
          <p:nvPr/>
        </p:nvSpPr>
        <p:spPr>
          <a:xfrm>
            <a:off x="1583474" y="0"/>
            <a:ext cx="9025052" cy="58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Présentation du </a:t>
            </a:r>
            <a:r>
              <a:rPr lang="fr-FR" dirty="0" err="1"/>
              <a:t>dashboard</a:t>
            </a:r>
            <a:endParaRPr lang="fr-FR" cap="small" dirty="0"/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5D9C8ED5-51F7-77A6-E554-2574F0B5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52F4E77-6A20-9501-13F0-B9AD44C34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10"/>
          <a:stretch>
            <a:fillRect/>
          </a:stretch>
        </p:blipFill>
        <p:spPr>
          <a:xfrm>
            <a:off x="684551" y="1033034"/>
            <a:ext cx="10822898" cy="52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C5E5-93D0-A18B-0663-4B1B4A41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EE2C6A-A8A2-7A18-165B-652651E5F87B}"/>
              </a:ext>
            </a:extLst>
          </p:cNvPr>
          <p:cNvSpPr txBox="1">
            <a:spLocks/>
          </p:cNvSpPr>
          <p:nvPr/>
        </p:nvSpPr>
        <p:spPr>
          <a:xfrm>
            <a:off x="1583474" y="0"/>
            <a:ext cx="9025052" cy="58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Présentation du </a:t>
            </a:r>
            <a:r>
              <a:rPr lang="fr-FR" dirty="0" err="1"/>
              <a:t>dashboard</a:t>
            </a:r>
            <a:endParaRPr lang="fr-FR" cap="small" dirty="0"/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D22369E7-197B-8E05-C498-EB136B8B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FDE612-E12D-EBBE-223B-3AE6719E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21759"/>
            <a:ext cx="11125200" cy="581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8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C9F132E7-D19E-09F3-A440-D81F7693E883}"/>
              </a:ext>
            </a:extLst>
          </p:cNvPr>
          <p:cNvSpPr txBox="1"/>
          <p:nvPr/>
        </p:nvSpPr>
        <p:spPr>
          <a:xfrm>
            <a:off x="6301740" y="-867192"/>
            <a:ext cx="5692140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9600" cap="all" spc="150" dirty="0">
                <a:solidFill>
                  <a:srgbClr val="C6BFAA">
                    <a:alpha val="25000"/>
                  </a:srgbClr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+mj-cs"/>
              </a:rPr>
              <a:t>II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CF96235-FDB6-F6E6-BBB3-35FDBEDA13A6}"/>
              </a:ext>
            </a:extLst>
          </p:cNvPr>
          <p:cNvSpPr txBox="1">
            <a:spLocks/>
          </p:cNvSpPr>
          <p:nvPr/>
        </p:nvSpPr>
        <p:spPr>
          <a:xfrm>
            <a:off x="6301740" y="2571234"/>
            <a:ext cx="5692140" cy="171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MODélisation</a:t>
            </a:r>
            <a:endParaRPr lang="fr-FR" dirty="0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AB09F7DD-8F1C-7084-693C-8E95768F1BFE}"/>
              </a:ext>
            </a:extLst>
          </p:cNvPr>
          <p:cNvSpPr txBox="1">
            <a:spLocks/>
          </p:cNvSpPr>
          <p:nvPr/>
        </p:nvSpPr>
        <p:spPr>
          <a:xfrm>
            <a:off x="5417310" y="6492875"/>
            <a:ext cx="2482842" cy="365125"/>
          </a:xfrm>
          <a:prstGeom prst="rect">
            <a:avLst/>
          </a:prstGeom>
          <a:solidFill>
            <a:srgbClr val="F7F6F3"/>
          </a:solidFill>
        </p:spPr>
        <p:txBody>
          <a:bodyPr rtlCol="0"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90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92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7A13-752B-2C08-74E3-815453F5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03F40-95B9-636A-C4DE-D43625347909}"/>
              </a:ext>
            </a:extLst>
          </p:cNvPr>
          <p:cNvSpPr txBox="1">
            <a:spLocks/>
          </p:cNvSpPr>
          <p:nvPr/>
        </p:nvSpPr>
        <p:spPr>
          <a:xfrm>
            <a:off x="1583474" y="187932"/>
            <a:ext cx="9025052" cy="58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Modélisation</a:t>
            </a:r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5046F1A9-36B1-C996-E0C0-F2163A65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FA5C9DA-4ABE-F6BC-3E30-B7220A76911A}"/>
              </a:ext>
            </a:extLst>
          </p:cNvPr>
          <p:cNvSpPr/>
          <p:nvPr/>
        </p:nvSpPr>
        <p:spPr>
          <a:xfrm>
            <a:off x="1141142" y="2518757"/>
            <a:ext cx="2147979" cy="5293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Base documentaire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04B9472-65B1-6D5F-A92C-DAC1C570190B}"/>
              </a:ext>
            </a:extLst>
          </p:cNvPr>
          <p:cNvSpPr/>
          <p:nvPr/>
        </p:nvSpPr>
        <p:spPr>
          <a:xfrm>
            <a:off x="2932181" y="3191148"/>
            <a:ext cx="2312411" cy="60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BERT </a:t>
            </a:r>
            <a:r>
              <a:rPr lang="fr-FR" dirty="0" err="1">
                <a:solidFill>
                  <a:sysClr val="windowText" lastClr="000000"/>
                </a:solidFill>
              </a:rPr>
              <a:t>SentenceTransformer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2D610F9-7A1D-2572-EB38-DE6A0AB91D25}"/>
              </a:ext>
            </a:extLst>
          </p:cNvPr>
          <p:cNvSpPr/>
          <p:nvPr/>
        </p:nvSpPr>
        <p:spPr>
          <a:xfrm>
            <a:off x="1160705" y="3835767"/>
            <a:ext cx="1239595" cy="60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Claim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6FC1D71-4E8E-4A73-F6D0-BDA9FAE482AD}"/>
              </a:ext>
            </a:extLst>
          </p:cNvPr>
          <p:cNvSpPr/>
          <p:nvPr/>
        </p:nvSpPr>
        <p:spPr>
          <a:xfrm>
            <a:off x="5846808" y="3191148"/>
            <a:ext cx="1352575" cy="60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FAISS</a:t>
            </a:r>
          </a:p>
          <a:p>
            <a:pPr algn="ctr"/>
            <a:r>
              <a:rPr lang="fr-FR" dirty="0" err="1">
                <a:solidFill>
                  <a:sysClr val="windowText" lastClr="000000"/>
                </a:solidFill>
              </a:rPr>
              <a:t>indexing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E3A7709-F02B-69A4-93B5-E178013E7C5E}"/>
              </a:ext>
            </a:extLst>
          </p:cNvPr>
          <p:cNvSpPr/>
          <p:nvPr/>
        </p:nvSpPr>
        <p:spPr>
          <a:xfrm>
            <a:off x="7730946" y="3191148"/>
            <a:ext cx="1450150" cy="60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Top-k </a:t>
            </a:r>
            <a:r>
              <a:rPr lang="fr-FR" dirty="0" err="1">
                <a:solidFill>
                  <a:sysClr val="windowText" lastClr="000000"/>
                </a:solidFill>
              </a:rPr>
              <a:t>chunks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B7C7BD9-6C41-C012-5C1B-923631275E5D}"/>
              </a:ext>
            </a:extLst>
          </p:cNvPr>
          <p:cNvSpPr/>
          <p:nvPr/>
        </p:nvSpPr>
        <p:spPr>
          <a:xfrm>
            <a:off x="9759271" y="3191148"/>
            <a:ext cx="1718855" cy="608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LLM </a:t>
            </a:r>
            <a:r>
              <a:rPr lang="fr-FR" dirty="0" err="1">
                <a:solidFill>
                  <a:sysClr val="windowText" lastClr="000000"/>
                </a:solidFill>
              </a:rPr>
              <a:t>prediction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25C5521C-46F8-8171-01CE-88189B0A9DC1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3289121" y="2783452"/>
            <a:ext cx="799266" cy="40769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3E4A3474-250C-F941-7807-15E79B040A50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2400300" y="3799200"/>
            <a:ext cx="1688087" cy="3405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C015868-A6AF-0365-A04B-97A6C2F705F9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5244592" y="3495174"/>
            <a:ext cx="602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E1201D47-F557-EB06-7943-7CE553627C7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199383" y="3495174"/>
            <a:ext cx="531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0EF1117F-C7B3-82F3-4CCD-E98EF7ECA55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9181096" y="3495174"/>
            <a:ext cx="5781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38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0FCC1AC0-1C87-8A9F-A883-FF73B9EDB95E}"/>
              </a:ext>
            </a:extLst>
          </p:cNvPr>
          <p:cNvSpPr txBox="1"/>
          <p:nvPr/>
        </p:nvSpPr>
        <p:spPr>
          <a:xfrm>
            <a:off x="5667375" y="-867192"/>
            <a:ext cx="6524625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9600" cap="all" spc="150" dirty="0">
                <a:solidFill>
                  <a:srgbClr val="C6BFAA">
                    <a:alpha val="25000"/>
                  </a:srgbClr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+mj-cs"/>
              </a:rPr>
              <a:t>III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AD102A-3997-B01E-F06D-095E4F348B38}"/>
              </a:ext>
            </a:extLst>
          </p:cNvPr>
          <p:cNvSpPr txBox="1">
            <a:spLocks/>
          </p:cNvSpPr>
          <p:nvPr/>
        </p:nvSpPr>
        <p:spPr>
          <a:xfrm>
            <a:off x="5928360" y="2571234"/>
            <a:ext cx="6172200" cy="171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sz="3600" dirty="0"/>
              <a:t>résultats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F4DCF41D-5492-57BD-14D8-DDB41DBCC0FD}"/>
              </a:ext>
            </a:extLst>
          </p:cNvPr>
          <p:cNvSpPr txBox="1">
            <a:spLocks/>
          </p:cNvSpPr>
          <p:nvPr/>
        </p:nvSpPr>
        <p:spPr>
          <a:xfrm>
            <a:off x="5417310" y="6492875"/>
            <a:ext cx="2482842" cy="365125"/>
          </a:xfrm>
          <a:prstGeom prst="rect">
            <a:avLst/>
          </a:prstGeom>
          <a:solidFill>
            <a:srgbClr val="F7F6F3"/>
          </a:solidFill>
        </p:spPr>
        <p:txBody>
          <a:bodyPr rtlCol="0"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90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6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EB34-2E00-AACF-5D2E-70EBBFBF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87B0F-BBC2-D355-8612-9FA18F43D8ED}"/>
              </a:ext>
            </a:extLst>
          </p:cNvPr>
          <p:cNvSpPr txBox="1">
            <a:spLocks/>
          </p:cNvSpPr>
          <p:nvPr/>
        </p:nvSpPr>
        <p:spPr>
          <a:xfrm>
            <a:off x="1583474" y="187932"/>
            <a:ext cx="9025052" cy="58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résultats</a:t>
            </a:r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A5755209-EC3C-DCD1-188A-177110A1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pic>
        <p:nvPicPr>
          <p:cNvPr id="5" name="Image 4" descr="Une image contenant texte, capture d’écran, diagram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FEEC2D11-9582-4848-66C1-9BAF6E5EC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336" y="1040733"/>
            <a:ext cx="8665328" cy="47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7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DFBC-5F97-AF8E-951C-99781C77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4445E-0B9E-4AD9-8AAB-AB061E2DEC90}"/>
              </a:ext>
            </a:extLst>
          </p:cNvPr>
          <p:cNvSpPr txBox="1">
            <a:spLocks/>
          </p:cNvSpPr>
          <p:nvPr/>
        </p:nvSpPr>
        <p:spPr>
          <a:xfrm>
            <a:off x="1583474" y="187932"/>
            <a:ext cx="9025052" cy="58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résultats</a:t>
            </a:r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A5454329-0D84-5E44-F03C-979B1BD3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pic>
        <p:nvPicPr>
          <p:cNvPr id="6" name="Image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AA3140F5-6FF9-15DC-98A3-9A9DC2BC7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422" y="1422315"/>
            <a:ext cx="7201155" cy="411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7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0FCC1AC0-1C87-8A9F-A883-FF73B9EDB95E}"/>
              </a:ext>
            </a:extLst>
          </p:cNvPr>
          <p:cNvSpPr txBox="1"/>
          <p:nvPr/>
        </p:nvSpPr>
        <p:spPr>
          <a:xfrm>
            <a:off x="5667375" y="-867192"/>
            <a:ext cx="6524625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9600" cap="all" spc="150" dirty="0">
                <a:solidFill>
                  <a:srgbClr val="C6BFAA">
                    <a:alpha val="25000"/>
                  </a:srgbClr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+mj-cs"/>
              </a:rPr>
              <a:t>IV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AD102A-3997-B01E-F06D-095E4F348B38}"/>
              </a:ext>
            </a:extLst>
          </p:cNvPr>
          <p:cNvSpPr txBox="1">
            <a:spLocks/>
          </p:cNvSpPr>
          <p:nvPr/>
        </p:nvSpPr>
        <p:spPr>
          <a:xfrm>
            <a:off x="5928360" y="2571234"/>
            <a:ext cx="6172200" cy="171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Conclusion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F4DCF41D-5492-57BD-14D8-DDB41DBCC0FD}"/>
              </a:ext>
            </a:extLst>
          </p:cNvPr>
          <p:cNvSpPr txBox="1">
            <a:spLocks/>
          </p:cNvSpPr>
          <p:nvPr/>
        </p:nvSpPr>
        <p:spPr>
          <a:xfrm>
            <a:off x="5417310" y="6492875"/>
            <a:ext cx="2482842" cy="365125"/>
          </a:xfrm>
          <a:prstGeom prst="rect">
            <a:avLst/>
          </a:prstGeom>
          <a:solidFill>
            <a:srgbClr val="F7F6F3"/>
          </a:solidFill>
        </p:spPr>
        <p:txBody>
          <a:bodyPr rtlCol="0"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90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372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FFE3E585-944F-2EC8-939B-1584750B1B1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147DDF6-065D-850E-6629-516185DF752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pPr rtl="0"/>
              <a:t>12</a:t>
            </a:fld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A30416-26CB-76B8-FE90-A09BA4FCF1C9}"/>
              </a:ext>
            </a:extLst>
          </p:cNvPr>
          <p:cNvSpPr txBox="1">
            <a:spLocks/>
          </p:cNvSpPr>
          <p:nvPr/>
        </p:nvSpPr>
        <p:spPr>
          <a:xfrm>
            <a:off x="1616213" y="3150025"/>
            <a:ext cx="2570776" cy="557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9497A6-CF29-FEBF-F606-A74B111C0971}"/>
              </a:ext>
            </a:extLst>
          </p:cNvPr>
          <p:cNvSpPr txBox="1">
            <a:spLocks/>
          </p:cNvSpPr>
          <p:nvPr/>
        </p:nvSpPr>
        <p:spPr>
          <a:xfrm>
            <a:off x="838201" y="4150899"/>
            <a:ext cx="4670798" cy="20819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fr-FR" noProof="1"/>
              <a:t>Dashboard déployé sur le cloud</a:t>
            </a:r>
          </a:p>
          <a:p>
            <a:pPr marL="285750" indent="-285750">
              <a:buFontTx/>
              <a:buChar char="-"/>
            </a:pPr>
            <a:r>
              <a:rPr lang="fr-FR" noProof="1"/>
              <a:t>Mesures prises pour être conforme à certaines règles d’accessibilité</a:t>
            </a:r>
          </a:p>
          <a:p>
            <a:pPr marL="285750" indent="-285750">
              <a:buFontTx/>
              <a:buChar char="-"/>
            </a:pPr>
            <a:r>
              <a:rPr lang="fr-FR" noProof="1"/>
              <a:t>POC convainquant</a:t>
            </a:r>
          </a:p>
          <a:p>
            <a:r>
              <a:rPr lang="fr-FR" noProof="1"/>
              <a:t>MAIS</a:t>
            </a:r>
          </a:p>
          <a:p>
            <a:pPr marL="285750" indent="-285750">
              <a:buFontTx/>
              <a:buChar char="-"/>
            </a:pPr>
            <a:r>
              <a:rPr lang="fr-FR" noProof="1"/>
              <a:t>Reste des améliorations à faire pour être complètement conforme</a:t>
            </a:r>
          </a:p>
          <a:p>
            <a:pPr marL="285750" indent="-285750">
              <a:buFontTx/>
              <a:buChar char="-"/>
            </a:pPr>
            <a:r>
              <a:rPr lang="fr-FR" noProof="1"/>
              <a:t>Bases documentaires à renforcer</a:t>
            </a:r>
          </a:p>
          <a:p>
            <a:pPr marL="285750" indent="-285750">
              <a:buFontTx/>
              <a:buChar char="-"/>
            </a:pPr>
            <a:endParaRPr lang="fr-FR" noProof="1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20062DD-00EA-27B9-4FCD-DF87CD562DCA}"/>
              </a:ext>
            </a:extLst>
          </p:cNvPr>
          <p:cNvSpPr txBox="1">
            <a:spLocks/>
          </p:cNvSpPr>
          <p:nvPr/>
        </p:nvSpPr>
        <p:spPr>
          <a:xfrm>
            <a:off x="5892293" y="1190112"/>
            <a:ext cx="5285780" cy="901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400" dirty="0"/>
              <a:t>Alternatives &amp; améliorations possibles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97065CA-0EA4-EB5F-A007-9248DA77C868}"/>
              </a:ext>
            </a:extLst>
          </p:cNvPr>
          <p:cNvSpPr txBox="1">
            <a:spLocks/>
          </p:cNvSpPr>
          <p:nvPr/>
        </p:nvSpPr>
        <p:spPr>
          <a:xfrm>
            <a:off x="5919680" y="2408776"/>
            <a:ext cx="5844373" cy="6294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Renforcer la base documentaire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1067EAC9-3C73-1C57-B1D2-585A3BA7AAFE}"/>
              </a:ext>
            </a:extLst>
          </p:cNvPr>
          <p:cNvSpPr txBox="1">
            <a:spLocks/>
          </p:cNvSpPr>
          <p:nvPr/>
        </p:nvSpPr>
        <p:spPr>
          <a:xfrm>
            <a:off x="5919680" y="2820191"/>
            <a:ext cx="5431971" cy="63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Afin d’améliorer le taux de couverture de sources et réduire le nombre de « NOT ENOUGH EVIDENCE ».</a:t>
            </a:r>
          </a:p>
        </p:txBody>
      </p:sp>
    </p:spTree>
    <p:extLst>
      <p:ext uri="{BB962C8B-B14F-4D97-AF65-F5344CB8AC3E}">
        <p14:creationId xmlns:p14="http://schemas.microsoft.com/office/powerpoint/2010/main" val="421735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fr-FR" dirty="0"/>
              <a:t>Merci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Maxime Carré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8221" y="6492875"/>
            <a:ext cx="4515558" cy="365125"/>
          </a:xfrm>
        </p:spPr>
        <p:txBody>
          <a:bodyPr rtlCol="0"/>
          <a:lstStyle/>
          <a:p>
            <a:r>
              <a:rPr lang="fr-FR" dirty="0"/>
              <a:t>Réalisez un </a:t>
            </a:r>
            <a:r>
              <a:rPr lang="fr-FR" dirty="0" err="1"/>
              <a:t>dashboard</a:t>
            </a:r>
            <a:r>
              <a:rPr lang="fr-FR" dirty="0"/>
              <a:t> et assurez une veille technique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629" y="6492874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870F-3CDD-0E5A-7C6A-CD7D1288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60726D4E-B120-98CE-823B-3C1669765C3E}"/>
              </a:ext>
            </a:extLst>
          </p:cNvPr>
          <p:cNvSpPr txBox="1"/>
          <p:nvPr/>
        </p:nvSpPr>
        <p:spPr>
          <a:xfrm>
            <a:off x="5667375" y="-867192"/>
            <a:ext cx="6524625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9600" cap="all" spc="150" dirty="0">
                <a:solidFill>
                  <a:srgbClr val="C6BFAA">
                    <a:alpha val="25000"/>
                  </a:srgbClr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+mj-cs"/>
              </a:rPr>
              <a:t>V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059A3C1-9B2F-29FF-DE1C-DE0A1CCA120F}"/>
              </a:ext>
            </a:extLst>
          </p:cNvPr>
          <p:cNvSpPr txBox="1">
            <a:spLocks/>
          </p:cNvSpPr>
          <p:nvPr/>
        </p:nvSpPr>
        <p:spPr>
          <a:xfrm>
            <a:off x="5928360" y="2571234"/>
            <a:ext cx="6172200" cy="171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Annexes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6522D54-45E9-882C-3808-F022ACBCB1AF}"/>
              </a:ext>
            </a:extLst>
          </p:cNvPr>
          <p:cNvSpPr txBox="1">
            <a:spLocks/>
          </p:cNvSpPr>
          <p:nvPr/>
        </p:nvSpPr>
        <p:spPr>
          <a:xfrm>
            <a:off x="5417310" y="6492875"/>
            <a:ext cx="2482842" cy="365125"/>
          </a:xfrm>
          <a:prstGeom prst="rect">
            <a:avLst/>
          </a:prstGeom>
          <a:solidFill>
            <a:srgbClr val="F7F6F3"/>
          </a:solidFill>
        </p:spPr>
        <p:txBody>
          <a:bodyPr rtlCol="0"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90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15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33175-191E-28AC-914E-1B42E2ED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0CE14-EC55-B385-2B43-24A69281B0BF}"/>
              </a:ext>
            </a:extLst>
          </p:cNvPr>
          <p:cNvSpPr txBox="1">
            <a:spLocks/>
          </p:cNvSpPr>
          <p:nvPr/>
        </p:nvSpPr>
        <p:spPr>
          <a:xfrm>
            <a:off x="1583474" y="187932"/>
            <a:ext cx="9025052" cy="58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Calcul du </a:t>
            </a:r>
            <a:r>
              <a:rPr lang="fr-FR" dirty="0" err="1"/>
              <a:t>threshold</a:t>
            </a:r>
            <a:endParaRPr lang="fr-FR" dirty="0"/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9DACA28D-FB05-F779-90C2-C61B761E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8430"/>
            <a:ext cx="4114800" cy="365125"/>
          </a:xfrm>
        </p:spPr>
        <p:txBody>
          <a:bodyPr/>
          <a:lstStyle/>
          <a:p>
            <a:r>
              <a:rPr lang="fr-FR" dirty="0"/>
              <a:t>Implémenter un modèle de </a:t>
            </a:r>
            <a:r>
              <a:rPr lang="fr-FR" dirty="0" err="1"/>
              <a:t>scoring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B16F24A-21E2-4021-E54F-9312C2F96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786" y="864353"/>
            <a:ext cx="3772426" cy="41344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CBF475A-119E-3E03-EEEA-392D7CAD3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784" y="5230928"/>
            <a:ext cx="522042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47412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gne">
  <a:themeElements>
    <a:clrScheme name="Personnalis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FFF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5_TF56180624_Win32" id="{86818CA5-A7A1-4A11-825D-121ACC2F2553}" vid="{B15E7544-D123-4273-B0AB-D8F961E44E2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Argumentaire de vente clair et minimaliste</Template>
  <TotalTime>8442</TotalTime>
  <Words>284</Words>
  <Application>Microsoft Office PowerPoint</Application>
  <PresentationFormat>Grand écran</PresentationFormat>
  <Paragraphs>78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PMingLiU-ExtB</vt:lpstr>
      <vt:lpstr>Arial</vt:lpstr>
      <vt:lpstr>Calibri</vt:lpstr>
      <vt:lpstr>Consolas</vt:lpstr>
      <vt:lpstr>Helvetica 75 Bold</vt:lpstr>
      <vt:lpstr>Tenorite</vt:lpstr>
      <vt:lpstr>Wingdings</vt:lpstr>
      <vt:lpstr>Monoligne</vt:lpstr>
      <vt:lpstr> Data Scientist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</vt:lpstr>
      <vt:lpstr>Présentation PowerPoint</vt:lpstr>
      <vt:lpstr>Présentation PowerPoint</vt:lpstr>
    </vt:vector>
  </TitlesOfParts>
  <Company>Orange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Scientist</dc:title>
  <dc:creator>CARRE Maxime OBS/MKT</dc:creator>
  <cp:lastModifiedBy>CARRE Maxime OBS/DIGITAL</cp:lastModifiedBy>
  <cp:revision>373</cp:revision>
  <dcterms:created xsi:type="dcterms:W3CDTF">2024-10-14T22:18:41Z</dcterms:created>
  <dcterms:modified xsi:type="dcterms:W3CDTF">2026-02-06T14:27:21Z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Monoligne:8</vt:lpwstr>
  </property>
  <property fmtid="{D5CDD505-2E9C-101B-9397-08002B2CF9AE}" pid="4" name="ClassificationContentMarkingFooterText">
    <vt:lpwstr>Orange Restricted</vt:lpwstr>
  </property>
</Properties>
</file>